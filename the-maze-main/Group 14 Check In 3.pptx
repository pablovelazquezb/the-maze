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62" r:id="rId7"/>
    <p:sldId id="261" r:id="rId8"/>
    <p:sldId id="263" r:id="rId9"/>
    <p:sldId id="264" r:id="rId10"/>
    <p:sldId id="268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2812-9E74-ADF3-9206-88F965AC7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08B41-C2A1-ADFC-B367-BE1F6A341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72FEA-E41A-02B0-5770-771E6D7F4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8636C-DBBB-3347-8644-E1C02884701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A6C7C-8249-B8BE-319E-48E42390D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AC434-44A8-07D6-574A-7F82B682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BE9D-8761-AE4B-BAEC-A1037EC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4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C6FD6-1F7B-DE7B-DFE8-778E85FAB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72782-A2EE-CA08-BB56-0001D53CD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AFE21-B058-D7D8-E291-3F8683776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8636C-DBBB-3347-8644-E1C02884701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AD6D3-560C-D1B3-7BA1-D5F87E9DD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C87E4-1EB2-FB2A-DCE3-5675221F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BE9D-8761-AE4B-BAEC-A1037EC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93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28DD-747C-D6E1-D81D-D4C4E2AD6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41F10-7096-3EA8-5867-E2DA3C855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07AF4-BA9F-1C7F-73FC-F84C37AC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8636C-DBBB-3347-8644-E1C02884701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0C130-59E7-5F97-C6E0-8FC2CD92C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32731-EECD-872A-3DB6-2141748C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BE9D-8761-AE4B-BAEC-A1037EC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13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3BA2-A8D2-4863-9D2E-93706677F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EC5CF-B493-E3A5-5816-3A469BF35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89FC6-D160-5BC2-65B2-EDACD1897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CAB23-3C70-EAFE-CAD1-291D19536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8636C-DBBB-3347-8644-E1C02884701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D18B5-B9B0-8784-6A60-D13A5D03B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1BA02-8A06-AEA6-3379-5571E11A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BE9D-8761-AE4B-BAEC-A1037EC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01128-7699-649A-6C0D-1FF8C597F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F9E1E-C86F-4AD8-D22F-EBDDFBC43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A36E7-F859-299A-2FD7-836FCD8B7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E77F12-B260-6A2D-62B6-F9690C4DB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97856A-C582-20F8-D5BD-0CBB63F26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D926AF-23BB-A693-C422-D271B71C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8636C-DBBB-3347-8644-E1C02884701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17AAAA-CD58-2C7A-56DF-1816AB4A5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2D40FD-1870-8BCB-BBFC-1FBFCD5EE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BE9D-8761-AE4B-BAEC-A1037EC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92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E288-65DA-2033-2FB5-71E24FFD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E44CCE-B0D9-F7D4-2F3F-A2141078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8636C-DBBB-3347-8644-E1C02884701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27CD79-3FFD-A78E-4032-0D18FC306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C81E67-67B9-1B69-7C06-B5DB4AAE6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BE9D-8761-AE4B-BAEC-A1037EC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53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F9C44-AC30-FC65-3DBE-3AD6643F6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8636C-DBBB-3347-8644-E1C02884701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5FDCD-0B09-60B2-504F-6BDDDBB62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1E0BD-3CE7-3963-04F8-B0920485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BE9D-8761-AE4B-BAEC-A1037EC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19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31395-0BFB-3199-43B0-D73C0434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51178-B795-03B2-53D9-DEA3DF5DD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32421-FA7D-6DA4-BD83-EDC0907A3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B8E04-1DC7-6ECD-D94B-16DF5D0A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8636C-DBBB-3347-8644-E1C02884701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67589-5EE4-C0C3-E8C6-7B8B4AA2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3EC01-9EB8-F696-0728-06CE0DF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BE9D-8761-AE4B-BAEC-A1037EC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51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5C3BA-A8AA-ED3A-4D48-22C106DAD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42F381-D972-DBDE-1ABD-F4C3CBB4D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F03E0-C347-A9FA-BF93-7893DB5A5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AAD9C-96A6-62A2-5538-990D75A21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8636C-DBBB-3347-8644-E1C02884701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EAE7B-D8D2-B8BF-3999-EA808F648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85142-E40E-3603-9C7E-E615112E2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BE9D-8761-AE4B-BAEC-A1037EC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67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E09B5-EF76-13C5-A9D9-FC304883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DB25A-DCB8-2412-B43A-DB7F13B7C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C6106-9F49-E543-5199-A24EE5FF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8636C-DBBB-3347-8644-E1C02884701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E3B45-DC4F-48A9-78CB-5E2D51675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26B45-E7FA-F673-130B-83636639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BE9D-8761-AE4B-BAEC-A1037EC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72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811B21-CA6B-C2BB-9301-D0BA1F7B70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11C53-5630-11F8-FB7C-B295D56D1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0C054-C7CB-C56C-4B2B-F734A0F6B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8636C-DBBB-3347-8644-E1C02884701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024F3-1C01-7FE2-8FF9-34B4F76B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D26F5-78AE-4799-1014-BDCC0322B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BE9D-8761-AE4B-BAEC-A1037EC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2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06A6AA-42A5-A4E4-5849-C2E440B52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F9A92-5281-4E5C-9D86-B120647E4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B4628-E1E2-2F2A-9847-3087A91EC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58636C-DBBB-3347-8644-E1C02884701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F9DB-CB5D-282A-F542-18621A72D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371FA-AA96-43CC-4161-EFEF48B0F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FBE9D-8761-AE4B-BAEC-A1037EC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0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AF78A-C71E-A5F0-EC90-8E1C5E352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0" y="590062"/>
            <a:ext cx="9429417" cy="2897382"/>
          </a:xfrm>
        </p:spPr>
        <p:txBody>
          <a:bodyPr>
            <a:normAutofit/>
          </a:bodyPr>
          <a:lstStyle/>
          <a:p>
            <a:pPr algn="l"/>
            <a:r>
              <a:rPr lang="en-US" sz="5600" dirty="0">
                <a:solidFill>
                  <a:srgbClr val="FFFFFF"/>
                </a:solidFill>
              </a:rPr>
              <a:t>Group 14 Check-In  #3 FINAL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8816C-162D-DC7B-7EC1-57144BB06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832" y="4698614"/>
            <a:ext cx="5570862" cy="1198120"/>
          </a:xfrm>
        </p:spPr>
        <p:txBody>
          <a:bodyPr>
            <a:normAutofit/>
          </a:bodyPr>
          <a:lstStyle/>
          <a:p>
            <a:pPr algn="r"/>
            <a:r>
              <a:rPr lang="en-US" sz="2000" dirty="0">
                <a:solidFill>
                  <a:srgbClr val="FFFFFF"/>
                </a:solidFill>
              </a:rPr>
              <a:t>By T Gwaze, Michael Thomas, Pablo Velazquez, Mohamed Uddin, Malick Dialga 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74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6646FC9-C66D-4EC7-8310-0DD4ACC49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2D043-EE75-A818-958C-D0A9E189F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 Introduction</a:t>
            </a:r>
          </a:p>
        </p:txBody>
      </p:sp>
      <p:sp>
        <p:nvSpPr>
          <p:cNvPr id="27" name="Rectangle: Rounded Corners 17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B8E41A-3A98-2805-F629-07219EC09154}"/>
              </a:ext>
            </a:extLst>
          </p:cNvPr>
          <p:cNvSpPr txBox="1"/>
          <p:nvPr/>
        </p:nvSpPr>
        <p:spPr>
          <a:xfrm>
            <a:off x="2483110" y="1993303"/>
            <a:ext cx="6792686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PROBLEM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Navigate an unknown 64 × 64 maze with hazards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Hazards rotate every 5 actions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No map provided. Exploration is required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A3B17C-6F21-AB50-B376-95C85F67A41C}"/>
              </a:ext>
            </a:extLst>
          </p:cNvPr>
          <p:cNvSpPr txBox="1"/>
          <p:nvPr/>
        </p:nvSpPr>
        <p:spPr>
          <a:xfrm>
            <a:off x="2579915" y="4007507"/>
            <a:ext cx="6096000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OBJECTIVES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 Load maze + hazards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 Solve </a:t>
            </a:r>
            <a:r>
              <a:rPr lang="en-US" i="1" dirty="0"/>
              <a:t>maze-alpha</a:t>
            </a:r>
            <a:r>
              <a:rPr lang="en-US" dirty="0"/>
              <a:t> using </a:t>
            </a:r>
            <a:r>
              <a:rPr lang="en-US" b="1" dirty="0"/>
              <a:t>Q-Learning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Test on </a:t>
            </a:r>
            <a:r>
              <a:rPr lang="en-US" i="1" dirty="0"/>
              <a:t>maze-beta</a:t>
            </a:r>
            <a:r>
              <a:rPr lang="en-US" dirty="0"/>
              <a:t> </a:t>
            </a:r>
            <a:r>
              <a:rPr lang="en-US" i="1" dirty="0"/>
              <a:t>(no </a:t>
            </a:r>
            <a:r>
              <a:rPr lang="en-US" i="1"/>
              <a:t>retraining)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562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1ED6A-3822-E29C-3DC5-EAE7BF910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36A2B44-2F32-E727-3D24-9838C252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4202C04-CE10-AD4B-F44E-536B36AC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7EE92A-58F2-6974-E34C-B73F7808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Method Justification - Q-Learning</a:t>
            </a:r>
          </a:p>
        </p:txBody>
      </p:sp>
      <p:sp>
        <p:nvSpPr>
          <p:cNvPr id="27" name="Rectangle: Rounded Corners 17">
            <a:extLst>
              <a:ext uri="{FF2B5EF4-FFF2-40B4-BE49-F238E27FC236}">
                <a16:creationId xmlns:a16="http://schemas.microsoft.com/office/drawing/2014/main" id="{E1DFD822-9289-E0A2-F1AD-D0D5D9D89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0F9F5D-BEEC-E51A-02FA-9283FA71D10A}"/>
              </a:ext>
            </a:extLst>
          </p:cNvPr>
          <p:cNvSpPr txBox="1"/>
          <p:nvPr/>
        </p:nvSpPr>
        <p:spPr>
          <a:xfrm>
            <a:off x="2483110" y="2307026"/>
            <a:ext cx="6792686" cy="1575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APPROACH HIGHLIGHTS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Natural MDP formulation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Handles unknown transition probabilities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Online learning </a:t>
            </a:r>
            <a:r>
              <a:rPr lang="en-US" i="1" dirty="0"/>
              <a:t>(explore vs exploit)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E751DB-712E-6ABB-85CA-2A079A060D85}"/>
              </a:ext>
            </a:extLst>
          </p:cNvPr>
          <p:cNvSpPr txBox="1"/>
          <p:nvPr/>
        </p:nvSpPr>
        <p:spPr>
          <a:xfrm>
            <a:off x="2483110" y="4807177"/>
            <a:ext cx="6096000" cy="1160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ALTERNATIVES REJECTED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Evolutionary: Poor for dynamic hazards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Supervised: Needs pre-collected optimal paths</a:t>
            </a:r>
          </a:p>
        </p:txBody>
      </p:sp>
    </p:spTree>
    <p:extLst>
      <p:ext uri="{BB962C8B-B14F-4D97-AF65-F5344CB8AC3E}">
        <p14:creationId xmlns:p14="http://schemas.microsoft.com/office/powerpoint/2010/main" val="3672926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1E256-49EB-63B4-C8AE-9345B0922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DDE5DCB-694D-A252-4B24-71C64B80F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AC93169-C288-FA58-937C-E7571D796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F476B8-3347-6CC7-C147-CBB5A27C6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Environment Setup</a:t>
            </a:r>
          </a:p>
        </p:txBody>
      </p:sp>
      <p:sp>
        <p:nvSpPr>
          <p:cNvPr id="27" name="Rectangle: Rounded Corners 17">
            <a:extLst>
              <a:ext uri="{FF2B5EF4-FFF2-40B4-BE49-F238E27FC236}">
                <a16:creationId xmlns:a16="http://schemas.microsoft.com/office/drawing/2014/main" id="{8E623618-421E-8D1E-56A1-5B9142E1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8DAECF-9DAF-56CD-B988-5CC6D77118F8}"/>
              </a:ext>
            </a:extLst>
          </p:cNvPr>
          <p:cNvSpPr txBox="1"/>
          <p:nvPr/>
        </p:nvSpPr>
        <p:spPr>
          <a:xfrm>
            <a:off x="2483110" y="2152102"/>
            <a:ext cx="6792686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API Compliance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Action </a:t>
            </a:r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i="1" dirty="0"/>
              <a:t>(UP / DOWN / LEFT / RIGHT / WAIT)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err="1"/>
              <a:t>TurnResult</a:t>
            </a:r>
            <a:r>
              <a:rPr lang="en-US" dirty="0"/>
              <a:t> feedback only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No direct map access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9CD81E-2732-7CCD-2E38-55F08589AFD6}"/>
              </a:ext>
            </a:extLst>
          </p:cNvPr>
          <p:cNvSpPr txBox="1"/>
          <p:nvPr/>
        </p:nvSpPr>
        <p:spPr>
          <a:xfrm>
            <a:off x="2483110" y="4262891"/>
            <a:ext cx="6096000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Hazard Mechanics Verified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Death pits : respawn at start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Teleport pads : deterministic destinations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Confusion traps : invert controls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Rotating hazards : 90° every 5 actions</a:t>
            </a:r>
          </a:p>
        </p:txBody>
      </p:sp>
    </p:spTree>
    <p:extLst>
      <p:ext uri="{BB962C8B-B14F-4D97-AF65-F5344CB8AC3E}">
        <p14:creationId xmlns:p14="http://schemas.microsoft.com/office/powerpoint/2010/main" val="1664539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690A5-18B5-0E56-541C-A53F8BBE6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B75463F-D096-EB89-1727-421AA759C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F284EBB-3624-7C29-8BFF-749EF970E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D524-390F-51D8-5180-2F24FFC8A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Q-Learning Agent Implementation</a:t>
            </a:r>
          </a:p>
        </p:txBody>
      </p:sp>
      <p:sp>
        <p:nvSpPr>
          <p:cNvPr id="27" name="Rectangle: Rounded Corners 17">
            <a:extLst>
              <a:ext uri="{FF2B5EF4-FFF2-40B4-BE49-F238E27FC236}">
                <a16:creationId xmlns:a16="http://schemas.microsoft.com/office/drawing/2014/main" id="{13368B26-8277-54D5-C2AF-C5CF40748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90BD02-72EF-4AA1-8DAF-2EEE2D4ECDBB}"/>
              </a:ext>
            </a:extLst>
          </p:cNvPr>
          <p:cNvSpPr txBox="1"/>
          <p:nvPr/>
        </p:nvSpPr>
        <p:spPr>
          <a:xfrm>
            <a:off x="2645229" y="1929448"/>
            <a:ext cx="7345523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Q-Learning Agent</a:t>
            </a: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STATE:</a:t>
            </a:r>
            <a:r>
              <a:rPr lang="en-US" dirty="0"/>
              <a:t> (x, y, phase, </a:t>
            </a:r>
            <a:r>
              <a:rPr lang="en-US" dirty="0" err="1"/>
              <a:t>known_walls</a:t>
            </a:r>
            <a:r>
              <a:rPr lang="en-US" dirty="0"/>
              <a:t>, </a:t>
            </a:r>
            <a:r>
              <a:rPr lang="en-US" dirty="0" err="1"/>
              <a:t>known_hazards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ACTIONS:</a:t>
            </a:r>
            <a:r>
              <a:rPr lang="en-US" dirty="0"/>
              <a:t> 5 (UP, DOWN, LEFT, RIGHT, WAIT)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REWARDS: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Goal: +500,  Step Penalty: -0.2 ,  Death: -100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Wall: -2 , New cell found:   +5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PARAMETERS: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α = 0.3 (learning rate)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γ = 0.9 (discount)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ε: 1.0  :  0.05 (decay: 0.99 per episode)</a:t>
            </a:r>
          </a:p>
        </p:txBody>
      </p:sp>
    </p:spTree>
    <p:extLst>
      <p:ext uri="{BB962C8B-B14F-4D97-AF65-F5344CB8AC3E}">
        <p14:creationId xmlns:p14="http://schemas.microsoft.com/office/powerpoint/2010/main" val="156221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E1364E-6B1B-55A9-9E43-BEF9C0C3C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0B42935-2C99-D8A9-10D1-EF346793D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04A5EA9-02C7-4D78-D854-71677128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9A2A8-98E6-5948-29ED-0CFDBE9E3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Maze-Alpha Results</a:t>
            </a:r>
          </a:p>
        </p:txBody>
      </p:sp>
      <p:sp>
        <p:nvSpPr>
          <p:cNvPr id="27" name="Rectangle: Rounded Corners 17">
            <a:extLst>
              <a:ext uri="{FF2B5EF4-FFF2-40B4-BE49-F238E27FC236}">
                <a16:creationId xmlns:a16="http://schemas.microsoft.com/office/drawing/2014/main" id="{25DD9DDE-E115-18AB-F5BE-3D29F06FF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B6C009-8D92-A2F5-5C9B-357727F16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343" y="1937657"/>
            <a:ext cx="4879892" cy="487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749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1FCAD-C598-31A3-D8AB-FEC9A7A30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BEC0886-07C4-1FCB-C81A-1DDF9F55B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149F418-2044-364E-EF98-9A91D3C4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A8BD7-AC65-33A1-6B83-2E9B046C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Maze-Alpha Results</a:t>
            </a:r>
          </a:p>
        </p:txBody>
      </p:sp>
      <p:sp>
        <p:nvSpPr>
          <p:cNvPr id="27" name="Rectangle: Rounded Corners 17">
            <a:extLst>
              <a:ext uri="{FF2B5EF4-FFF2-40B4-BE49-F238E27FC236}">
                <a16:creationId xmlns:a16="http://schemas.microsoft.com/office/drawing/2014/main" id="{72A7536A-BD3A-3565-7676-25BC31E8F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32EA33-2DD9-FAA4-CD23-63FED9948B8B}"/>
              </a:ext>
            </a:extLst>
          </p:cNvPr>
          <p:cNvSpPr txBox="1"/>
          <p:nvPr/>
        </p:nvSpPr>
        <p:spPr>
          <a:xfrm>
            <a:off x="2483110" y="1894719"/>
            <a:ext cx="8021604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METRICS: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 Training episodes:    500 (with DFS path pre-training)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  Q-table size:         1,404 entries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  Success rate:         50%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  Average turns:        2,746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200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13E76-7F8B-DBE8-95DF-D842A88C9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F291E07-3AAE-2A2E-311F-AF7AA3085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01475EA-D33B-DDC9-FBB8-FE006E537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23CAD-2A86-EEE4-FA8A-35CAAE2DE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 Testing Results (maze-beta)</a:t>
            </a:r>
          </a:p>
        </p:txBody>
      </p:sp>
      <p:sp>
        <p:nvSpPr>
          <p:cNvPr id="27" name="Rectangle: Rounded Corners 17">
            <a:extLst>
              <a:ext uri="{FF2B5EF4-FFF2-40B4-BE49-F238E27FC236}">
                <a16:creationId xmlns:a16="http://schemas.microsoft.com/office/drawing/2014/main" id="{858C5FE9-FAFB-0F05-9A9B-37F228E85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08B857-9061-1FBB-5597-D6E7D8C26B9F}"/>
              </a:ext>
            </a:extLst>
          </p:cNvPr>
          <p:cNvSpPr txBox="1"/>
          <p:nvPr/>
        </p:nvSpPr>
        <p:spPr>
          <a:xfrm>
            <a:off x="2483110" y="2179125"/>
            <a:ext cx="6096000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METRICS: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Success rate: 100%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Average path length: 1,326.8 cells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Average turns to goal: 1,326.8 turns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Death rate: 0.00</a:t>
            </a:r>
          </a:p>
        </p:txBody>
      </p:sp>
    </p:spTree>
    <p:extLst>
      <p:ext uri="{BB962C8B-B14F-4D97-AF65-F5344CB8AC3E}">
        <p14:creationId xmlns:p14="http://schemas.microsoft.com/office/powerpoint/2010/main" val="2965392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FFB2B-7FCB-2A10-573F-0DE5ADDD0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388CF9-1DD9-4E54-DA76-5C603417A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375F10E-88AD-9C0C-B132-3A9485737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5D70E-9213-CB0D-4693-EC5DAE96F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Metrics Analysis &amp; AI Disclosure</a:t>
            </a:r>
          </a:p>
        </p:txBody>
      </p:sp>
      <p:sp>
        <p:nvSpPr>
          <p:cNvPr id="27" name="Rectangle: Rounded Corners 17">
            <a:extLst>
              <a:ext uri="{FF2B5EF4-FFF2-40B4-BE49-F238E27FC236}">
                <a16:creationId xmlns:a16="http://schemas.microsoft.com/office/drawing/2014/main" id="{A5D8FAFB-ADB3-FC5E-2596-93B68A954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1D5C2E-7846-DA75-EF6D-4B555E2F92C9}"/>
              </a:ext>
            </a:extLst>
          </p:cNvPr>
          <p:cNvSpPr txBox="1"/>
          <p:nvPr/>
        </p:nvSpPr>
        <p:spPr>
          <a:xfrm>
            <a:off x="2483110" y="2179125"/>
            <a:ext cx="60960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FINDINGS: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Q-Learning adapts well to rotating hazards</a:t>
            </a:r>
          </a:p>
          <a:p>
            <a:pPr>
              <a:lnSpc>
                <a:spcPct val="150000"/>
              </a:lnSpc>
            </a:pPr>
            <a:r>
              <a:rPr lang="en-US" dirty="0"/>
              <a:t>Transfer to new maze works </a:t>
            </a:r>
            <a:r>
              <a:rPr lang="en-US" i="1" dirty="0"/>
              <a:t>(100% success)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Death rate low </a:t>
            </a:r>
            <a:r>
              <a:rPr lang="en-US" i="1" dirty="0"/>
              <a:t>(0.00)</a:t>
            </a:r>
            <a:r>
              <a:rPr lang="en-US" dirty="0"/>
              <a:t>: safe exploration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105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288AE3-9722-6F46-F3C8-9163A1060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6DA89DB-9F9F-1CE9-6870-169283AE7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47483B9-50DA-B696-8A52-DA87C0D7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C70D1-625B-C89B-C605-0FA9F29F5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Conclusion &amp; Next Steps</a:t>
            </a:r>
          </a:p>
        </p:txBody>
      </p:sp>
      <p:sp>
        <p:nvSpPr>
          <p:cNvPr id="27" name="Rectangle: Rounded Corners 17">
            <a:extLst>
              <a:ext uri="{FF2B5EF4-FFF2-40B4-BE49-F238E27FC236}">
                <a16:creationId xmlns:a16="http://schemas.microsoft.com/office/drawing/2014/main" id="{A572CBB0-F153-E3FF-820D-BF1AA9591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D52CCD-6BA5-83C9-9C3C-530084202F84}"/>
              </a:ext>
            </a:extLst>
          </p:cNvPr>
          <p:cNvSpPr txBox="1"/>
          <p:nvPr/>
        </p:nvSpPr>
        <p:spPr>
          <a:xfrm>
            <a:off x="2483110" y="2179125"/>
            <a:ext cx="609600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Conclusion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Successfully implemented Q-Learning for </a:t>
            </a:r>
            <a:r>
              <a:rPr lang="en-US" i="1" dirty="0"/>
              <a:t>maze-alpha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Achieved 50% success rate on training maze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Successfully transferred to </a:t>
            </a:r>
            <a:r>
              <a:rPr lang="en-US" i="1" dirty="0"/>
              <a:t>maze-beta</a:t>
            </a:r>
            <a:r>
              <a:rPr lang="en-US" dirty="0"/>
              <a:t> </a:t>
            </a:r>
            <a:r>
              <a:rPr lang="en-US" i="1" dirty="0"/>
              <a:t>(100%)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Handles rotating hazards via phase-aware state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5BE1F-47E4-4935-6544-F8BFE815E139}"/>
              </a:ext>
            </a:extLst>
          </p:cNvPr>
          <p:cNvSpPr txBox="1"/>
          <p:nvPr/>
        </p:nvSpPr>
        <p:spPr>
          <a:xfrm>
            <a:off x="2483110" y="4635138"/>
            <a:ext cx="6096000" cy="1575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NEXT STEPS (Extra Credit):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Maze-gamma with multi-directional hazards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Teleport pad integration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Optimize for speed / efficiency competitions</a:t>
            </a:r>
          </a:p>
        </p:txBody>
      </p:sp>
    </p:spTree>
    <p:extLst>
      <p:ext uri="{BB962C8B-B14F-4D97-AF65-F5344CB8AC3E}">
        <p14:creationId xmlns:p14="http://schemas.microsoft.com/office/powerpoint/2010/main" val="1531530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0d1c891-7dcc-4910-a09b-3511a08baaf6">
      <Terms xmlns="http://schemas.microsoft.com/office/infopath/2007/PartnerControls"/>
    </lcf76f155ced4ddcb4097134ff3c332f>
    <TaxCatchAll xmlns="340bd2e0-ce02-4715-a267-bbedf3f7590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6D780A297FF14A8FBA96D525255DC3" ma:contentTypeVersion="11" ma:contentTypeDescription="Create a new document." ma:contentTypeScope="" ma:versionID="64696618e6d6615b5f57ebc11e0af589">
  <xsd:schema xmlns:xsd="http://www.w3.org/2001/XMLSchema" xmlns:xs="http://www.w3.org/2001/XMLSchema" xmlns:p="http://schemas.microsoft.com/office/2006/metadata/properties" xmlns:ns2="40d1c891-7dcc-4910-a09b-3511a08baaf6" xmlns:ns3="340bd2e0-ce02-4715-a267-bbedf3f75908" targetNamespace="http://schemas.microsoft.com/office/2006/metadata/properties" ma:root="true" ma:fieldsID="9e49762096ba7c7fbbfa1a868ae03ae1" ns2:_="" ns3:_="">
    <xsd:import namespace="40d1c891-7dcc-4910-a09b-3511a08baaf6"/>
    <xsd:import namespace="340bd2e0-ce02-4715-a267-bbedf3f759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d1c891-7dcc-4910-a09b-3511a08baa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d3ec5fc-e53c-44b8-a5cd-ce895a24db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0bd2e0-ce02-4715-a267-bbedf3f7590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3c75c16-5360-4a96-a308-9f8d1a942d0b}" ma:internalName="TaxCatchAll" ma:showField="CatchAllData" ma:web="340bd2e0-ce02-4715-a267-bbedf3f759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0FEF10-72B2-4320-AD9D-55447B4ED4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A8CEE4-B4E1-4768-9BA2-04171F54737C}">
  <ds:schemaRefs>
    <ds:schemaRef ds:uri="340bd2e0-ce02-4715-a267-bbedf3f75908"/>
    <ds:schemaRef ds:uri="40d1c891-7dcc-4910-a09b-3511a08baaf6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7176FD1-2887-417B-99C8-5BE0134F7632}">
  <ds:schemaRefs>
    <ds:schemaRef ds:uri="340bd2e0-ce02-4715-a267-bbedf3f75908"/>
    <ds:schemaRef ds:uri="40d1c891-7dcc-4910-a09b-3511a08baaf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388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Avenir Next LT Pro</vt:lpstr>
      <vt:lpstr>Calibri</vt:lpstr>
      <vt:lpstr>Courier New</vt:lpstr>
      <vt:lpstr>Wingdings</vt:lpstr>
      <vt:lpstr>Office Theme</vt:lpstr>
      <vt:lpstr>Group 14 Check-In  #3 FINAL</vt:lpstr>
      <vt:lpstr> Introduction</vt:lpstr>
      <vt:lpstr>Method Justification - Q-Learning</vt:lpstr>
      <vt:lpstr>Environment Setup</vt:lpstr>
      <vt:lpstr>Q-Learning Agent Implementation</vt:lpstr>
      <vt:lpstr>Maze-Alpha Results</vt:lpstr>
      <vt:lpstr>Maze-Alpha Results</vt:lpstr>
      <vt:lpstr> Testing Results (maze-beta)</vt:lpstr>
      <vt:lpstr>Metrics Analysis &amp; AI Disclosure</vt:lpstr>
      <vt:lpstr>Conclusion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Uddin, Mohamed A</dc:creator>
  <cp:lastModifiedBy>Dialga, Malick</cp:lastModifiedBy>
  <cp:revision>7</cp:revision>
  <dcterms:created xsi:type="dcterms:W3CDTF">2026-02-18T19:05:53Z</dcterms:created>
  <dcterms:modified xsi:type="dcterms:W3CDTF">2026-04-20T00:55:46Z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0x010100F56D780A297FF14A8FBA96D525255DC3</vt:lpwstr>
  </property>
  <property fmtid="{D5CDD505-2E9C-101B-9397-08002B2CF9AE}" pid="3" name="MediaServiceImageTags">
    <vt:lpwstr/>
  </property>
</Properties>
</file>